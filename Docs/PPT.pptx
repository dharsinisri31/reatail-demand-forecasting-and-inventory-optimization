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6"/>
  </p:notesMasterIdLst>
  <p:sldIdLst>
    <p:sldId id="280" r:id="rId2"/>
    <p:sldId id="281" r:id="rId3"/>
    <p:sldId id="258" r:id="rId4"/>
    <p:sldId id="279" r:id="rId5"/>
    <p:sldId id="259" r:id="rId6"/>
    <p:sldId id="284" r:id="rId7"/>
    <p:sldId id="263" r:id="rId8"/>
    <p:sldId id="265" r:id="rId9"/>
    <p:sldId id="287" r:id="rId10"/>
    <p:sldId id="289" r:id="rId11"/>
    <p:sldId id="290" r:id="rId12"/>
    <p:sldId id="291" r:id="rId13"/>
    <p:sldId id="269" r:id="rId14"/>
    <p:sldId id="271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2DB03B-1C6F-4B9B-B4D4-988654A8A710}">
  <a:tblStyle styleId="{092DB03B-1C6F-4B9B-B4D4-988654A8A71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-1642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621208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 September 2023</a:t>
            </a:r>
          </a:p>
          <a:p>
            <a:r>
              <a:rPr lang="en-US"/>
              <a:t>1-59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757596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734669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308283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209159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1285598-5AB9-B946-D4E8-B7E18875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A0F959F1-5E2D-93D6-F3E4-15B0C12FC0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0E702A5-137F-D3FC-AE63-5BCE058F0E4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2EBFEE11-A559-66C6-4376-B396D0976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8950E584-0747-71D4-910B-78DFE6D37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D4C2FA6-0296-128F-EC24-BDFE089BAC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B199CE7-449C-D26B-0817-FB34E87C4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="" xmlns:p14="http://schemas.microsoft.com/office/powerpoint/2010/main" val="3207164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162313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339073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448167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16880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43" r="1"/>
            </a:stretch>
          </a:blipFill>
        </p:spPr>
        <p:txBody>
          <a:bodyPr lIns="85725" tIns="42863" rIns="85725" bIns="42863"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11994" y="5072062"/>
            <a:ext cx="1259632" cy="1517856"/>
          </a:xfrm>
          <a:custGeom>
            <a:avLst/>
            <a:gdLst/>
            <a:ahLst/>
            <a:cxnLst/>
            <a:rect l="l" t="t" r="r" b="b"/>
            <a:pathLst>
              <a:path w="1343607" h="1619046">
                <a:moveTo>
                  <a:pt x="0" y="0"/>
                </a:moveTo>
                <a:lnTo>
                  <a:pt x="1343608" y="0"/>
                </a:lnTo>
                <a:lnTo>
                  <a:pt x="1343608" y="1619046"/>
                </a:lnTo>
                <a:lnTo>
                  <a:pt x="0" y="1619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63726" y="3897812"/>
            <a:ext cx="3369506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endParaRPr lang="en-US"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39332" y="451104"/>
            <a:ext cx="8304668" cy="3258147"/>
          </a:xfrm>
        </p:spPr>
        <p:txBody>
          <a:bodyPr>
            <a:noAutofit/>
          </a:bodyPr>
          <a:lstStyle/>
          <a:p>
            <a:pPr algn="ctr"/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</a:t>
            </a:r>
            <a:b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KONGU ENGINEERING COLLEGE</a:t>
            </a:r>
            <a:b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ARTIFICIAL INTELLIGENCE AND DATA SCIENCE</a:t>
            </a: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0" dirty="0">
                <a:solidFill>
                  <a:schemeClr val="bg2"/>
                </a:solidFill>
              </a:rPr>
              <a:t>Retail Demand Forecasting &amp; Inventory Optimization </a:t>
            </a: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2532078" y="4511040"/>
            <a:ext cx="5587794" cy="2346960"/>
          </a:xfrm>
        </p:spPr>
        <p:txBody>
          <a:bodyPr>
            <a:noAutofit/>
          </a:bodyPr>
          <a:lstStyle/>
          <a:p>
            <a:pPr lvl="0" algn="l">
              <a:spcBef>
                <a:spcPts val="1260"/>
              </a:spcBef>
            </a:pPr>
            <a:endParaRPr lang="en-US" sz="1800" b="1" dirty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spcBef>
                <a:spcPts val="1260"/>
              </a:spcBef>
            </a:pPr>
            <a:r>
              <a:rPr lang="en-US" sz="1800" b="1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en-US" sz="1800" b="1" spc="-65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spc="-1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MEMBERS:</a:t>
            </a:r>
            <a:endParaRPr lang="en-US" sz="1800" spc="-10" dirty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1800" spc="-1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1.24ADR037 –Dharsini </a:t>
            </a:r>
            <a:r>
              <a:rPr lang="en-US" sz="1800" spc="-1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sri</a:t>
            </a:r>
            <a:r>
              <a:rPr lang="en-US" sz="1800" spc="-1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V S</a:t>
            </a:r>
          </a:p>
          <a:p>
            <a:pPr lvl="0" algn="just">
              <a:spcBef>
                <a:spcPts val="0"/>
              </a:spcBef>
            </a:pPr>
            <a:r>
              <a:rPr lang="en-US" sz="1800" spc="-1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2. 24ADR010-Apsaraa S </a:t>
            </a:r>
          </a:p>
          <a:p>
            <a:pPr lvl="0" algn="just">
              <a:spcBef>
                <a:spcPts val="0"/>
              </a:spcBef>
            </a:pPr>
            <a:r>
              <a:rPr lang="en-US" sz="1800" spc="-1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3. 24ADR046-Ezhil </a:t>
            </a:r>
            <a:r>
              <a:rPr lang="en-US" sz="1800" spc="-1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Kumaran</a:t>
            </a:r>
            <a:r>
              <a:rPr lang="en-US" sz="1800" spc="-1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P</a:t>
            </a:r>
          </a:p>
          <a:p>
            <a:pPr lvl="0" algn="l">
              <a:spcBef>
                <a:spcPts val="0"/>
              </a:spcBef>
            </a:pPr>
            <a:endParaRPr lang="en-US" sz="1800" spc="-10" dirty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635" lvl="0" algn="l">
              <a:spcBef>
                <a:spcPts val="360"/>
              </a:spcBef>
            </a:pPr>
            <a:endParaRPr lang="en-US" sz="1800" spc="-25" dirty="0">
              <a:solidFill>
                <a:sysClr val="windowText" lastClr="0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/>
          </a:p>
          <a:p>
            <a:pPr algn="l"/>
            <a:endParaRPr lang="en-US" sz="1900" dirty="0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44" y="219456"/>
            <a:ext cx="1231151" cy="782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750175" y="1523999"/>
            <a:ext cx="8229600" cy="4377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Retail industries generate a large amount of sales data every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day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the biggest challenges in retail is predicting future demand accurately.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Incorrect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predictions can lead to overstocking, which increases storage costs, or understocking, which results in lost sales and poor customer satisfaction.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Deep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learning models can provide more accurate demand predictions compared to traditional statistical methods.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project focuses on developing a smart system that forecasts demand and optimizes inventory, helping retailers make better decisions and improve overall efficiency.</a:t>
            </a:r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33400" y="9810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6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643767" y="1753057"/>
            <a:ext cx="8229600" cy="510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Retail industries face major challenges in predicting future product demand accurately. Traditional forecasting methods cannot efficiently handle large-scale sales data, seasonal trends, customer behavior, and sudden market changes.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Incorrect forecasting leads to overstocking,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understocking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inventory loss, reduced profit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Poor customer satisfaction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Hence, an intelligent AI-based demand forecasting system is required to improve inventory management and business decision-making.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33400" y="9810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779954" y="1753056"/>
            <a:ext cx="8229600" cy="4783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43560" y="254000"/>
            <a:ext cx="8229600" cy="62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6280" y="1158239"/>
          <a:ext cx="8183880" cy="54864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6776"/>
                <a:gridCol w="1636776"/>
                <a:gridCol w="1636776"/>
                <a:gridCol w="1636776"/>
                <a:gridCol w="1636776"/>
              </a:tblGrid>
              <a:tr h="36651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Journal</a:t>
                      </a:r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Name</a:t>
                      </a:r>
                      <a:endParaRPr lang="en-US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endParaRPr lang="en-US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endParaRPr lang="en-US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endParaRPr lang="en-US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Metrics</a:t>
                      </a:r>
                      <a:endParaRPr lang="en-US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136447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IEEE Access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Demand Forecasting for </a:t>
                      </a:r>
                      <a:r>
                        <a:rPr lang="en-US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Rossmann</a:t>
                      </a: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 Stores Using a Weather-Enhanced Deep Learning Model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LSTM-based Deep Learning model integrated with weather features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RMSE,</a:t>
                      </a:r>
                    </a:p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Accuracy: 93%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343073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Expert Systems with Applications (Elsevier )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Retail Store-SKU Level Replenishment Planning with Attribute-Space Graph Recurrent Neural Networks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Graph Recurrent Neural Network (ASG-RNN) for SKU demand prediction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Accuracy: 95%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60107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Information Journal (MDPI / Springer Indexed)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Retail Demand Forecasting: A Comparative Analysis of Deep Neural Networks and the Proposal of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LSTMixer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LSTMixer</a:t>
                      </a: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 architecture with Deep Neural Networks for retail demand forecasting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Accuracy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:, RMSE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</a:tr>
              <a:tr h="1039291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International Journal of Forecasting (Elsevier – S1)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Forecasting Seasonal Demand for Retail: A Fourier Time-Varying Grey Model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Fourier Time-Varying Grey Model with seasonal time-series forecasting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MAPE, RMSE</a:t>
                      </a:r>
                      <a:endParaRPr 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38209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18-Jul-25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755904" y="1752283"/>
            <a:ext cx="8229600" cy="4389437"/>
          </a:xfrm>
        </p:spPr>
        <p:txBody>
          <a:bodyPr/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predict future retail sales using AI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analyze historical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Walmart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sales data.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improve inventory optimization.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reduce stock shortages and overstock.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compare LSTM and GRU model performance.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visualize sales forecasting.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640080" y="716280"/>
            <a:ext cx="7391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2" algn="ctr"/>
            <a:r>
              <a:rPr lang="en-US" sz="3200" dirty="0" smtClean="0"/>
              <a:t>OBJECTIVES</a:t>
            </a: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D40D74C-911D-8E0C-33EB-5F11D0A7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2A1DAE4C-CE29-5489-7456-EC622182C69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7AB7D01F-75FC-C223-A36B-2BCB4A47ACDB}"/>
              </a:ext>
            </a:extLst>
          </p:cNvPr>
          <p:cNvSpPr txBox="1"/>
          <p:nvPr/>
        </p:nvSpPr>
        <p:spPr>
          <a:xfrm>
            <a:off x="483011" y="518160"/>
            <a:ext cx="8037718" cy="557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I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="" xmlns:a16="http://schemas.microsoft.com/office/drawing/2014/main" id="{BAFD3C13-F060-EC3F-CD90-7849A7DBB333}"/>
              </a:ext>
            </a:extLst>
          </p:cNvPr>
          <p:cNvSpPr/>
          <p:nvPr/>
        </p:nvSpPr>
        <p:spPr>
          <a:xfrm>
            <a:off x="1" y="0"/>
            <a:ext cx="508210" cy="632726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B427114-B53C-540E-5654-604C59D63259}"/>
              </a:ext>
            </a:extLst>
          </p:cNvPr>
          <p:cNvSpPr txBox="1"/>
          <p:nvPr/>
        </p:nvSpPr>
        <p:spPr>
          <a:xfrm>
            <a:off x="1462532" y="1936911"/>
            <a:ext cx="664464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43239" y="1667297"/>
            <a:ext cx="6868513" cy="446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040147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571500" y="242394"/>
            <a:ext cx="8229600" cy="48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3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dirty="0"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712216" y="1153072"/>
            <a:ext cx="80010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Dataset Used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Walmart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Retail Sales Dataset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Features Used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Store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Department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Weekly Sales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Temperature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Fuel Price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CPI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Unemployment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Holiday Information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579120" y="448818"/>
            <a:ext cx="8229600" cy="70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MODULES WITH DESCRIPTION</a:t>
            </a:r>
            <a:r>
              <a:rPr lang="en-IN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/>
            </a:r>
            <a:br>
              <a:rPr lang="en-IN" b="1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</a:b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27551CC-172D-7EE9-1DAC-4C2DD42A6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95038" y="1413521"/>
            <a:ext cx="529824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Data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Collection: Gathers </a:t>
            </a:r>
            <a:r>
              <a:rPr lang="en-US" altLang="en-US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kumimoji="0" lang="en-US" altLang="en-US" sz="1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almart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dataset </a:t>
            </a:r>
            <a:endParaRPr lang="en-US" alt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Data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Preprocessing: Cleans and formats data </a:t>
            </a: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Feature Engineering: Selects important features </a:t>
            </a: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LSTM Forecasting: Deep learning sequential model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GRU Forecasting:  Fast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recurent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neural  network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Optimization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Module: Suggests 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stock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levels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Visualization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Module: Displays graphs and outputs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0" y="121920"/>
            <a:ext cx="8229600" cy="79121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SCREENSHOT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2160" y="1345006"/>
            <a:ext cx="3931920" cy="5054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0120" y="1447800"/>
            <a:ext cx="4060652" cy="4968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0" y="629920"/>
            <a:ext cx="8229600" cy="66929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PERFORMANCE METRICS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912" y="1692339"/>
            <a:ext cx="8229600" cy="4739957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1. Mean Square Error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2.RMSE (Root Mean Square Error)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Evaluates prediction error.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3. Training Loss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Used to evaluate model learning performance.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4. Mean Absolute Error</a:t>
            </a:r>
          </a:p>
          <a:p>
            <a:pPr algn="just">
              <a:lnSpc>
                <a:spcPct val="150000"/>
              </a:lnSpc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19760"/>
            <a:ext cx="8229600" cy="86233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RESULTS ACHIEVED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Accurate retail demand forecasting.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Reduced inventory wastage.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Improved stock management.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Better sales prediction trends.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Interactive visualization dashboard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High prediction accuracy.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Real-time forecasting support.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Improved business decision-making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" y="375920"/>
            <a:ext cx="8229600" cy="89281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82763"/>
            <a:ext cx="8229600" cy="4389437"/>
          </a:xfrm>
        </p:spPr>
        <p:txBody>
          <a:bodyPr/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AI Retail Demand Forecasting System successfully predicts future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Walmart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sales using LSTM and GRU deep learning models.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The project combines machine learning, data visualization, and web technologies to provide intelligent retail analytics.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By analyzing historical sales trends and external factors such as temperature, CPI, fuel price, and unemployment rate, the system improves inventory planning and demand forecasting accuracy.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dashboard provides interactive visualizations, prediction graphs, and business insights that help retailers reduce stock shortages and optimize inventory management.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493776" y="170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r>
              <a:rPr lang="en-IN" sz="3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r>
              <a:rPr lang="en-IN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/>
            </a:r>
            <a:br>
              <a:rPr lang="en-IN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268AB29-5F9F-7AA6-274F-8C75DC5D5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8888" y="1143000"/>
            <a:ext cx="7424928" cy="5698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8006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Ye, L.,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Xie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N.,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Boylan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J. F., &amp; Shang, Z., “Forecasting Seasonal Demand for Retail: A Fourier Time-Varying Grey Model,”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International Journal of Forecasting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Elsevier, Vol. 40, No. 4, pp. 1467–1485, 2024. </a:t>
            </a:r>
          </a:p>
          <a:p>
            <a:pPr marL="48006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“Retail Store-SKU Level Replenishment Planning with Attribute-Space Graph Recurrent Neural Networks,”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Expert Systems with Applications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Elsevier, Vol. 249, 2024. </a:t>
            </a:r>
          </a:p>
          <a:p>
            <a:pPr marL="48006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Qureshi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N. U. H., et al., “Demand Forecasting for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Rossmann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Stores Using a Weather-Enhanced Deep Learning Model,”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IEEE Access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Vol. 12,. 145570–145581, 2024. </a:t>
            </a:r>
          </a:p>
          <a:p>
            <a:pPr marL="48006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Theodoridis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G., &amp;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Tsadiras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A., “Retail Demand Forecasting: A Comparative Analysis of Deep Neural Networks and the Proposal of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LSTMixer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a Linear Model Extension,”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Information Journal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Vol. 16, No. 7. 596–610, 2025.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title"/>
          </p:nvPr>
        </p:nvSpPr>
        <p:spPr>
          <a:xfrm>
            <a:off x="601717" y="572814"/>
            <a:ext cx="82296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THANK YOU</a:t>
            </a:r>
            <a:endParaRPr sz="6000" dirty="0">
              <a:solidFill>
                <a:schemeClr val="dk1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3435</TotalTime>
  <Words>778</Words>
  <Application>Microsoft Office PowerPoint</Application>
  <PresentationFormat>On-screen Show (4:3)</PresentationFormat>
  <Paragraphs>113</Paragraphs>
  <Slides>14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                                  KONGU ENGINEERING COLLEGE      DEPARTMENT OF ARTIFICIAL INTELLIGENCE AND DATA SCIENCE   Retail Demand Forecasting &amp; Inventory Optimization  </vt:lpstr>
      <vt:lpstr>INTRODUCTION</vt:lpstr>
      <vt:lpstr>PROBLEM STATEMENT</vt:lpstr>
      <vt:lpstr>LITERATURE SURVEY</vt:lpstr>
      <vt:lpstr>Slide 5</vt:lpstr>
      <vt:lpstr>Slide 6</vt:lpstr>
      <vt:lpstr>DATASET DESCRIPTION</vt:lpstr>
      <vt:lpstr>  MODULES WITH DESCRIPTION </vt:lpstr>
      <vt:lpstr>SCREENSHOT</vt:lpstr>
      <vt:lpstr>PERFORMANCE METRICS</vt:lpstr>
      <vt:lpstr>RESULTS ACHIEVED</vt:lpstr>
      <vt:lpstr>CONCLUSION</vt:lpstr>
      <vt:lpstr>  REFERENCES 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-PROJECT TITLE- SDG (NO) – TYPE  24GEP41- MINI PROJECT 2 REVIEW - 2  PROJECT GUIDE NAME DESIGNATION   PROJECT MEMBER NAME – ROLL NO</dc:title>
  <dc:creator>saliniyan</dc:creator>
  <cp:lastModifiedBy>ADMIN</cp:lastModifiedBy>
  <cp:revision>72</cp:revision>
  <dcterms:modified xsi:type="dcterms:W3CDTF">2026-05-30T03:43:15Z</dcterms:modified>
</cp:coreProperties>
</file>